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672" y="-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file:///C:\Users\A%20To%20Z\Pictures\demo%20video.mp4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3000" b="1">
                <a:solidFill>
                  <a:srgbClr val="19232D"/>
                </a:solidFill>
              </a:rPr>
              <a:t>MAUSAM360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sz="3400" b="1">
                <a:solidFill>
                  <a:srgbClr val="224B7E"/>
                </a:solidFill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9232D"/>
                </a:solidFill>
                <a:latin typeface="Aptos"/>
              </a:rPr>
              <a:t>• Problem Statement ID – </a:t>
            </a:r>
            <a:r>
              <a:rPr sz="1700">
                <a:solidFill>
                  <a:srgbClr val="224B7E"/>
                </a:solidFill>
                <a:latin typeface="Aptos"/>
              </a:rPr>
              <a:t>SIH26069</a:t>
            </a:r>
            <a:endParaRPr lang="en-US" dirty="0"/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9232D"/>
                </a:solidFill>
                <a:latin typeface="Aptos"/>
              </a:rPr>
              <a:t>• Problem Statement Title – </a:t>
            </a:r>
            <a:r>
              <a:rPr sz="1700">
                <a:solidFill>
                  <a:srgbClr val="224B7E"/>
                </a:solidFill>
                <a:latin typeface="Aptos"/>
              </a:rPr>
              <a:t>National Weather Big Data Analytics Platform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9232D"/>
                </a:solidFill>
                <a:latin typeface="Aptos"/>
              </a:rPr>
              <a:t>• Theme – </a:t>
            </a:r>
            <a:r>
              <a:rPr sz="1700">
                <a:solidFill>
                  <a:srgbClr val="224B7E"/>
                </a:solidFill>
                <a:latin typeface="Aptos"/>
              </a:rPr>
              <a:t>Disaster Management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9232D"/>
                </a:solidFill>
                <a:latin typeface="Aptos"/>
              </a:rPr>
              <a:t>• PS Category – </a:t>
            </a:r>
            <a:r>
              <a:rPr sz="1700">
                <a:solidFill>
                  <a:srgbClr val="224B7E"/>
                </a:solidFill>
                <a:latin typeface="Aptos"/>
              </a:rPr>
              <a:t>Software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9232D"/>
                </a:solidFill>
                <a:latin typeface="Aptos"/>
              </a:rPr>
              <a:t>• Team ID – </a:t>
            </a:r>
            <a:r>
              <a:rPr sz="1700">
                <a:solidFill>
                  <a:srgbClr val="224B7E"/>
                </a:solidFill>
                <a:latin typeface="Aptos"/>
              </a:rPr>
              <a:t>186386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9232D"/>
                </a:solidFill>
                <a:latin typeface="Aptos"/>
              </a:rPr>
              <a:t>• Team Name – </a:t>
            </a:r>
            <a:r>
              <a:rPr sz="1700">
                <a:solidFill>
                  <a:srgbClr val="224B7E"/>
                </a:solidFill>
                <a:latin typeface="Aptos"/>
              </a:rPr>
              <a:t>hackstreetgirls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502920" y="6053328"/>
            <a:ext cx="6400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19" b="0">
                <a:solidFill>
                  <a:srgbClr val="5C6873"/>
                </a:solidFill>
                <a:latin typeface="Aptos"/>
              </a:rPr>
              <a:t>Organization: Ministry of Earth Sciences (MoES)  |  Department: India Meteorological Department (IMD)</a:t>
            </a:r>
          </a:p>
        </p:txBody>
      </p:sp>
      <p:pic>
        <p:nvPicPr>
          <p:cNvPr id="13" name="demo video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9105088" y="4581728"/>
            <a:ext cx="3086911" cy="22578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3000" b="1">
                <a:solidFill>
                  <a:srgbClr val="224B7E"/>
                </a:solidFill>
              </a:rPr>
              <a:t>IDEA TITLE — MAUSAM360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4B7E"/>
                </a:solidFill>
              </a:rPr>
              <a:t>hackstreetgirls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Rounded Rectangle 15361"/>
          <p:cNvSpPr/>
          <p:nvPr/>
        </p:nvSpPr>
        <p:spPr>
          <a:xfrm>
            <a:off x="594360" y="1234440"/>
            <a:ext cx="3703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Rectangle 15362"/>
          <p:cNvSpPr/>
          <p:nvPr/>
        </p:nvSpPr>
        <p:spPr>
          <a:xfrm>
            <a:off x="594360" y="1234440"/>
            <a:ext cx="73152" cy="1828800"/>
          </a:xfrm>
          <a:prstGeom prst="rect">
            <a:avLst/>
          </a:prstGeom>
          <a:solidFill>
            <a:srgbClr val="EF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TextBox 15363"/>
          <p:cNvSpPr txBox="1"/>
          <p:nvPr/>
        </p:nvSpPr>
        <p:spPr>
          <a:xfrm>
            <a:off x="758952" y="1344168"/>
            <a:ext cx="3447287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224B7E"/>
                </a:solidFill>
                <a:latin typeface="Aptos"/>
              </a:rPr>
              <a:t>Proposed Solution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704088" y="1719072"/>
            <a:ext cx="3502151" cy="1261872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National weather intelligence platform for unified data ingestion, processing and visualization.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Combines multi-source weather feeds with AI-assisted anomaly, risk and event analysis.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Designed as a scalable dashboard for disaster-management decision support.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434840" y="1234440"/>
            <a:ext cx="3703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Rectangle 15366"/>
          <p:cNvSpPr/>
          <p:nvPr/>
        </p:nvSpPr>
        <p:spPr>
          <a:xfrm>
            <a:off x="4434840" y="1234440"/>
            <a:ext cx="73152" cy="1828800"/>
          </a:xfrm>
          <a:prstGeom prst="rect">
            <a:avLst/>
          </a:prstGeom>
          <a:solidFill>
            <a:srgbClr val="224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8" name="TextBox 15367"/>
          <p:cNvSpPr txBox="1"/>
          <p:nvPr/>
        </p:nvSpPr>
        <p:spPr>
          <a:xfrm>
            <a:off x="4599431" y="1344168"/>
            <a:ext cx="3447287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224B7E"/>
                </a:solidFill>
                <a:latin typeface="Aptos"/>
              </a:rPr>
              <a:t>How it addresses the problem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4544568" y="1719072"/>
            <a:ext cx="3502151" cy="1261872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Centralizes fragmented weather information into one interface.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Supports historical analysis, alerts, forecasts and location-wise risk views.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Creates a clear path from raw data → analytics → actionable insights.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8275320" y="123444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Rectangle 15370"/>
          <p:cNvSpPr/>
          <p:nvPr/>
        </p:nvSpPr>
        <p:spPr>
          <a:xfrm>
            <a:off x="8275320" y="1234440"/>
            <a:ext cx="73152" cy="1828800"/>
          </a:xfrm>
          <a:prstGeom prst="rect">
            <a:avLst/>
          </a:prstGeom>
          <a:solidFill>
            <a:srgbClr val="1F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TextBox 15371"/>
          <p:cNvSpPr txBox="1"/>
          <p:nvPr/>
        </p:nvSpPr>
        <p:spPr>
          <a:xfrm>
            <a:off x="8439912" y="1344168"/>
            <a:ext cx="308152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224B7E"/>
                </a:solidFill>
                <a:latin typeface="Aptos"/>
              </a:rPr>
              <a:t>Innovation &amp; uniqueness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8385048" y="1719072"/>
            <a:ext cx="3136391" cy="1261872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AI Weather Intelligence for anomaly and extreme-condition detection.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Verification-ready architecture for future citizen/social reports.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Transparent demo-data labeling for credible prototyping.</a:t>
            </a:r>
          </a:p>
        </p:txBody>
      </p:sp>
      <p:pic>
        <p:nvPicPr>
          <p:cNvPr id="15374" name="Picture 15373" descr="Screenshot 2026-09-30 1408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4754880" cy="2320588"/>
          </a:xfrm>
          <a:prstGeom prst="rect">
            <a:avLst/>
          </a:prstGeom>
        </p:spPr>
      </p:pic>
      <p:sp>
        <p:nvSpPr>
          <p:cNvPr id="15375" name="TextBox 15374"/>
          <p:cNvSpPr txBox="1"/>
          <p:nvPr/>
        </p:nvSpPr>
        <p:spPr>
          <a:xfrm>
            <a:off x="5623560" y="3364992"/>
            <a:ext cx="5715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224B7E"/>
                </a:solidFill>
                <a:latin typeface="Aptos"/>
              </a:rPr>
              <a:t>CORE IDEA FLOW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623560" y="3886200"/>
            <a:ext cx="1005840" cy="640080"/>
          </a:xfrm>
          <a:prstGeom prst="roundRect">
            <a:avLst/>
          </a:prstGeom>
          <a:solidFill>
            <a:srgbClr val="EF7E20"/>
          </a:solidFill>
          <a:ln>
            <a:solidFill>
              <a:srgbClr val="EF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DATA SOURCES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6629400" y="4050791"/>
            <a:ext cx="228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5C6873"/>
                </a:solidFill>
                <a:latin typeface="Aptos"/>
              </a:rPr>
              <a:t>→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6876288" y="3886200"/>
            <a:ext cx="960120" cy="640080"/>
          </a:xfrm>
          <a:prstGeom prst="roundRect">
            <a:avLst/>
          </a:prstGeom>
          <a:solidFill>
            <a:srgbClr val="224B7E"/>
          </a:solidFill>
          <a:ln>
            <a:solidFill>
              <a:srgbClr val="224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PROCESSING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7836408" y="4050791"/>
            <a:ext cx="228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5C6873"/>
                </a:solidFill>
                <a:latin typeface="Aptos"/>
              </a:rPr>
              <a:t>→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8083296" y="3886200"/>
            <a:ext cx="1417320" cy="640080"/>
          </a:xfrm>
          <a:prstGeom prst="roundRect">
            <a:avLst/>
          </a:prstGeom>
          <a:solidFill>
            <a:srgbClr val="1F7A4C"/>
          </a:solidFill>
          <a:ln>
            <a:solidFill>
              <a:srgbClr val="1F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WEATHER ANALYTICS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9500616" y="4050791"/>
            <a:ext cx="228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5C6873"/>
                </a:solidFill>
                <a:latin typeface="Aptos"/>
              </a:rPr>
              <a:t>→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9747504" y="3886200"/>
            <a:ext cx="960120" cy="640080"/>
          </a:xfrm>
          <a:prstGeom prst="roundRect">
            <a:avLst/>
          </a:prstGeom>
          <a:solidFill>
            <a:srgbClr val="EF7E20"/>
          </a:solidFill>
          <a:ln>
            <a:solidFill>
              <a:srgbClr val="EF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RISK / AI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10707624" y="4050791"/>
            <a:ext cx="228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5C6873"/>
                </a:solidFill>
                <a:latin typeface="Aptos"/>
              </a:rPr>
              <a:t>→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10954512" y="3886200"/>
            <a:ext cx="960120" cy="640080"/>
          </a:xfrm>
          <a:prstGeom prst="roundRect">
            <a:avLst/>
          </a:prstGeom>
          <a:solidFill>
            <a:srgbClr val="224B7E"/>
          </a:solidFill>
          <a:ln>
            <a:solidFill>
              <a:srgbClr val="224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5623560" y="4754880"/>
            <a:ext cx="557784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lnSpc>
                <a:spcPct val="103000"/>
              </a:lnSpc>
              <a:spcAft>
                <a:spcPts val="300"/>
              </a:spcAft>
              <a:defRPr sz="1200">
                <a:solidFill>
                  <a:srgbClr val="19232D"/>
                </a:solidFill>
                <a:latin typeface="Aptos"/>
              </a:defRPr>
            </a:pPr>
            <a:r>
              <a:t>• Prototype status: simulated/demo data; interface and interactions demonstrated.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200">
                <a:solidFill>
                  <a:srgbClr val="19232D"/>
                </a:solidFill>
                <a:latin typeface="Aptos"/>
              </a:defRPr>
            </a:pPr>
            <a:r>
              <a:t>• Production path: connect official APIs, public datasets and validated reporting channels.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3000" b="1">
                <a:solidFill>
                  <a:srgbClr val="224B7E"/>
                </a:solidFill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4B7E"/>
                </a:solidFill>
              </a:rPr>
              <a:t>hackstreetgirls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1">
                <a:solidFill>
                  <a:srgbClr val="224B7E"/>
                </a:solidFill>
                <a:latin typeface="Aptos"/>
              </a:rPr>
              <a:t>Technologies to be used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640080" y="1581912"/>
            <a:ext cx="685800" cy="41148"/>
          </a:xfrm>
          <a:prstGeom prst="rect">
            <a:avLst/>
          </a:prstGeom>
          <a:solidFill>
            <a:srgbClr val="EF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621792" y="1664208"/>
            <a:ext cx="4297680" cy="201168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lnSpc>
                <a:spcPct val="103000"/>
              </a:lnSpc>
              <a:spcAft>
                <a:spcPts val="300"/>
              </a:spcAft>
              <a:defRPr sz="1220">
                <a:solidFill>
                  <a:srgbClr val="19232D"/>
                </a:solidFill>
                <a:latin typeface="Aptos"/>
              </a:defRPr>
            </a:pPr>
            <a:r>
              <a:t>• Frontend: React / responsive web UI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220">
                <a:solidFill>
                  <a:srgbClr val="19232D"/>
                </a:solidFill>
                <a:latin typeface="Aptos"/>
              </a:defRPr>
            </a:pPr>
            <a:r>
              <a:t>• Data layer: REST APIs, JSON and structured weather datasets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220">
                <a:solidFill>
                  <a:srgbClr val="19232D"/>
                </a:solidFill>
                <a:latin typeface="Aptos"/>
              </a:defRPr>
            </a:pPr>
            <a:r>
              <a:t>• Analytics: Python-ready data processing + AI/ML modules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220">
                <a:solidFill>
                  <a:srgbClr val="19232D"/>
                </a:solidFill>
                <a:latin typeface="Aptos"/>
              </a:defRPr>
            </a:pPr>
            <a:r>
              <a:t>• Visualization: interactive charts, national weather map and alert panels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220">
                <a:solidFill>
                  <a:srgbClr val="19232D"/>
                </a:solidFill>
                <a:latin typeface="Aptos"/>
              </a:defRPr>
            </a:pPr>
            <a:r>
              <a:t>• Production storage: scalable cloud / big-data database architecture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74920" y="1234440"/>
            <a:ext cx="6309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1">
                <a:solidFill>
                  <a:srgbClr val="224B7E"/>
                </a:solidFill>
                <a:latin typeface="Aptos"/>
              </a:rPr>
              <a:t>Methodology &amp; implementation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074920" y="1581912"/>
            <a:ext cx="685800" cy="41148"/>
          </a:xfrm>
          <a:prstGeom prst="rect">
            <a:avLst/>
          </a:prstGeom>
          <a:solidFill>
            <a:srgbClr val="EF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5074920" y="1691640"/>
            <a:ext cx="1143000" cy="621792"/>
          </a:xfrm>
          <a:prstGeom prst="roundRect">
            <a:avLst/>
          </a:prstGeom>
          <a:solidFill>
            <a:srgbClr val="EF7E20"/>
          </a:solidFill>
          <a:ln>
            <a:solidFill>
              <a:srgbClr val="EF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1. INGEST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217920" y="1874519"/>
            <a:ext cx="1463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5C6873"/>
                </a:solidFill>
                <a:latin typeface="Aptos"/>
              </a:rPr>
              <a:t>→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345936" y="1691640"/>
            <a:ext cx="1097280" cy="621792"/>
          </a:xfrm>
          <a:prstGeom prst="roundRect">
            <a:avLst/>
          </a:prstGeom>
          <a:solidFill>
            <a:srgbClr val="224B7E"/>
          </a:solidFill>
          <a:ln>
            <a:solidFill>
              <a:srgbClr val="224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2. CLEAN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443215" y="1874519"/>
            <a:ext cx="1463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5C6873"/>
                </a:solidFill>
                <a:latin typeface="Aptos"/>
              </a:rPr>
              <a:t>→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571231" y="1691640"/>
            <a:ext cx="1188720" cy="621792"/>
          </a:xfrm>
          <a:prstGeom prst="roundRect">
            <a:avLst/>
          </a:prstGeom>
          <a:solidFill>
            <a:srgbClr val="1F7A4C"/>
          </a:solidFill>
          <a:ln>
            <a:solidFill>
              <a:srgbClr val="1F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3. ANALYZE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759952" y="1874519"/>
            <a:ext cx="1463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5C6873"/>
                </a:solidFill>
                <a:latin typeface="Aptos"/>
              </a:rPr>
              <a:t>→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887967" y="1691640"/>
            <a:ext cx="1097280" cy="621792"/>
          </a:xfrm>
          <a:prstGeom prst="roundRect">
            <a:avLst/>
          </a:prstGeom>
          <a:solidFill>
            <a:srgbClr val="EF7E20"/>
          </a:solidFill>
          <a:ln>
            <a:solidFill>
              <a:srgbClr val="EF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4. DETECT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985247" y="1874519"/>
            <a:ext cx="1463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5C6873"/>
                </a:solidFill>
                <a:latin typeface="Aptos"/>
              </a:rPr>
              <a:t>→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10113263" y="1691640"/>
            <a:ext cx="1234440" cy="621792"/>
          </a:xfrm>
          <a:prstGeom prst="roundRect">
            <a:avLst/>
          </a:prstGeom>
          <a:solidFill>
            <a:srgbClr val="224B7E"/>
          </a:solidFill>
          <a:ln>
            <a:solidFill>
              <a:srgbClr val="224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5. VISUALIZE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074920" y="2514600"/>
            <a:ext cx="612648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lnSpc>
                <a:spcPct val="103000"/>
              </a:lnSpc>
              <a:spcAft>
                <a:spcPts val="300"/>
              </a:spcAft>
              <a:defRPr sz="1120">
                <a:solidFill>
                  <a:srgbClr val="19232D"/>
                </a:solidFill>
                <a:latin typeface="Aptos"/>
              </a:defRPr>
            </a:pPr>
            <a:r>
              <a:t>• Multi-source data → validation/deduplication → event classification → anomaly/risk scoring → dashboard/alerts.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120">
                <a:solidFill>
                  <a:srgbClr val="19232D"/>
                </a:solidFill>
                <a:latin typeface="Aptos"/>
              </a:defRPr>
            </a:pPr>
            <a:r>
              <a:t>• AI layer can later verify untrusted reports and flag misleading or duplicate information.</a:t>
            </a:r>
          </a:p>
        </p:txBody>
      </p:sp>
      <p:pic>
        <p:nvPicPr>
          <p:cNvPr id="17425" name="Picture 17424" descr="Screenshot 2026-09-30 1401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3886201"/>
            <a:ext cx="4169075" cy="2540076"/>
          </a:xfrm>
          <a:prstGeom prst="rect">
            <a:avLst/>
          </a:prstGeom>
        </p:spPr>
      </p:pic>
      <p:pic>
        <p:nvPicPr>
          <p:cNvPr id="17426" name="Picture 17425" descr="Screenshot 2026-09-30 1402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3886200"/>
            <a:ext cx="3703320" cy="2540077"/>
          </a:xfrm>
          <a:prstGeom prst="rect">
            <a:avLst/>
          </a:prstGeom>
        </p:spPr>
      </p:pic>
      <p:pic>
        <p:nvPicPr>
          <p:cNvPr id="17427" name="Picture 17426" descr="Screenshot 2026-09-30 1406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7" y="3886200"/>
            <a:ext cx="3246120" cy="1545037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685800" y="5925312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50" b="0" dirty="0">
                <a:solidFill>
                  <a:srgbClr val="5C6873"/>
                </a:solidFill>
                <a:latin typeface="Aptos"/>
              </a:rPr>
              <a:t>Prototype evidence: Advanced Analytics  |  National Weather Map  |  AI Weather Intelligence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3000" b="1">
                <a:solidFill>
                  <a:srgbClr val="224B7E"/>
                </a:solidFill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4B7E"/>
                </a:solidFill>
              </a:rPr>
              <a:t>hackstreetgirls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1">
                <a:solidFill>
                  <a:srgbClr val="224B7E"/>
                </a:solidFill>
                <a:latin typeface="Aptos"/>
              </a:rPr>
              <a:t>Feasibility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640080" y="1581912"/>
            <a:ext cx="685800" cy="41148"/>
          </a:xfrm>
          <a:prstGeom prst="rect">
            <a:avLst/>
          </a:prstGeom>
          <a:solidFill>
            <a:srgbClr val="EF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664208"/>
            <a:ext cx="3657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Rectangle 17412"/>
          <p:cNvSpPr/>
          <p:nvPr/>
        </p:nvSpPr>
        <p:spPr>
          <a:xfrm>
            <a:off x="594360" y="1664208"/>
            <a:ext cx="73152" cy="3383280"/>
          </a:xfrm>
          <a:prstGeom prst="rect">
            <a:avLst/>
          </a:prstGeom>
          <a:solidFill>
            <a:srgbClr val="1F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758952" y="1773936"/>
            <a:ext cx="34015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224B7E"/>
                </a:solidFill>
                <a:latin typeface="Aptos"/>
              </a:rPr>
              <a:t>Why it is feasible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04088" y="2148840"/>
            <a:ext cx="3456432" cy="2816352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Modular web architecture can start with APIs/datasets and scale later.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Core dashboard, analytics and alert views are already prototyped.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Open-source technologies reduce licensing dependency.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Production components can be deployed incrementally.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434840" y="1234440"/>
            <a:ext cx="32918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1">
                <a:solidFill>
                  <a:srgbClr val="224B7E"/>
                </a:solidFill>
                <a:latin typeface="Aptos"/>
              </a:rPr>
              <a:t>Challenges &amp; risks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4434840" y="1581912"/>
            <a:ext cx="685800" cy="41148"/>
          </a:xfrm>
          <a:prstGeom prst="rect">
            <a:avLst/>
          </a:prstGeom>
          <a:solidFill>
            <a:srgbClr val="EF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ounded Rectangle 17417"/>
          <p:cNvSpPr/>
          <p:nvPr/>
        </p:nvSpPr>
        <p:spPr>
          <a:xfrm>
            <a:off x="4407408" y="1664208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ectangle 17418"/>
          <p:cNvSpPr/>
          <p:nvPr/>
        </p:nvSpPr>
        <p:spPr>
          <a:xfrm>
            <a:off x="4407408" y="1664208"/>
            <a:ext cx="73152" cy="3383280"/>
          </a:xfrm>
          <a:prstGeom prst="rect">
            <a:avLst/>
          </a:prstGeom>
          <a:solidFill>
            <a:srgbClr val="EF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4572000" y="1773936"/>
            <a:ext cx="308152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224B7E"/>
                </a:solidFill>
                <a:latin typeface="Aptos"/>
              </a:rPr>
              <a:t>Key risks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517136" y="2148840"/>
            <a:ext cx="3136391" cy="2816352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Large data volume and inconsistent formats.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Duplicate, noisy or misleading reports.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API availability and real-time latency.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Map/API keys and production data access.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973568" y="1234440"/>
            <a:ext cx="3383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1">
                <a:solidFill>
                  <a:srgbClr val="224B7E"/>
                </a:solidFill>
                <a:latin typeface="Aptos"/>
              </a:rPr>
              <a:t>Mitigation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7973568" y="1581912"/>
            <a:ext cx="685800" cy="41148"/>
          </a:xfrm>
          <a:prstGeom prst="rect">
            <a:avLst/>
          </a:prstGeom>
          <a:solidFill>
            <a:srgbClr val="EF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ounded Rectangle 17423"/>
          <p:cNvSpPr/>
          <p:nvPr/>
        </p:nvSpPr>
        <p:spPr>
          <a:xfrm>
            <a:off x="7936992" y="1664208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ectangle 17424"/>
          <p:cNvSpPr/>
          <p:nvPr/>
        </p:nvSpPr>
        <p:spPr>
          <a:xfrm>
            <a:off x="7936992" y="1664208"/>
            <a:ext cx="73152" cy="3383280"/>
          </a:xfrm>
          <a:prstGeom prst="rect">
            <a:avLst/>
          </a:prstGeom>
          <a:solidFill>
            <a:srgbClr val="224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8101583" y="1773936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224B7E"/>
                </a:solidFill>
                <a:latin typeface="Aptos"/>
              </a:rPr>
              <a:t>Strategies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046719" y="2148840"/>
            <a:ext cx="3227832" cy="2816352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Schema validation, deduplication and data-quality scoring.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AI-assisted verification + human-review workflow.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Caching, asynchronous processing and scalable storage.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Fallback datasets and clear demo/production separation.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58368" y="5257800"/>
            <a:ext cx="107167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224B7E"/>
                </a:solidFill>
                <a:latin typeface="Aptos"/>
              </a:rPr>
              <a:t>IMPLEMENTATION ROADMAP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68680" y="5532120"/>
            <a:ext cx="2331720" cy="438912"/>
          </a:xfrm>
          <a:prstGeom prst="roundRect">
            <a:avLst/>
          </a:prstGeom>
          <a:solidFill>
            <a:srgbClr val="EF7E20"/>
          </a:solidFill>
          <a:ln>
            <a:solidFill>
              <a:srgbClr val="EF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P1  Prototype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218687" y="5632704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5C6873"/>
                </a:solidFill>
                <a:latin typeface="Aptos"/>
              </a:rPr>
              <a:t>→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447287" y="5532120"/>
            <a:ext cx="2331720" cy="438912"/>
          </a:xfrm>
          <a:prstGeom prst="roundRect">
            <a:avLst/>
          </a:prstGeom>
          <a:solidFill>
            <a:srgbClr val="224B7E"/>
          </a:solidFill>
          <a:ln>
            <a:solidFill>
              <a:srgbClr val="224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P2  Live APIs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797296" y="5632704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5C6873"/>
                </a:solidFill>
                <a:latin typeface="Aptos"/>
              </a:rPr>
              <a:t>→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025896" y="5532120"/>
            <a:ext cx="2331720" cy="438912"/>
          </a:xfrm>
          <a:prstGeom prst="roundRect">
            <a:avLst/>
          </a:prstGeom>
          <a:solidFill>
            <a:srgbClr val="1F7A4C"/>
          </a:solidFill>
          <a:ln>
            <a:solidFill>
              <a:srgbClr val="1F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P3  AI Verification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375904" y="5632704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5C6873"/>
                </a:solidFill>
                <a:latin typeface="Aptos"/>
              </a:rPr>
              <a:t>→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604504" y="5532120"/>
            <a:ext cx="2331720" cy="438912"/>
          </a:xfrm>
          <a:prstGeom prst="roundRect">
            <a:avLst/>
          </a:prstGeom>
          <a:solidFill>
            <a:srgbClr val="224B7E"/>
          </a:solidFill>
          <a:ln>
            <a:solidFill>
              <a:srgbClr val="224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P4  National Scale</a:t>
            </a:r>
          </a:p>
        </p:txBody>
      </p:sp>
    </p:spTree>
    <p:extLst>
      <p:ext uri="{BB962C8B-B14F-4D97-AF65-F5344CB8AC3E}">
        <p14:creationId xmlns:p14="http://schemas.microsoft.com/office/powerpoint/2010/main" xmlns="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3000" b="1">
                <a:solidFill>
                  <a:srgbClr val="224B7E"/>
                </a:solidFill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4B7E"/>
                </a:solidFill>
              </a:rPr>
              <a:t>hackstreetgirls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594360" y="1325880"/>
            <a:ext cx="34290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ectangle 17410"/>
          <p:cNvSpPr/>
          <p:nvPr/>
        </p:nvSpPr>
        <p:spPr>
          <a:xfrm>
            <a:off x="594360" y="1325880"/>
            <a:ext cx="73152" cy="3977639"/>
          </a:xfrm>
          <a:prstGeom prst="rect">
            <a:avLst/>
          </a:prstGeom>
          <a:solidFill>
            <a:srgbClr val="EF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758952" y="1435607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224B7E"/>
                </a:solidFill>
                <a:latin typeface="Aptos"/>
              </a:rPr>
              <a:t>Target audience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04088" y="1810512"/>
            <a:ext cx="3227832" cy="3410711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Disaster-management authorities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Weather analysts and administrators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Emergency-response teams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Researchers and public-data users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Citizens needing clear local alerts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87952" y="1325880"/>
            <a:ext cx="34290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4187952" y="1325880"/>
            <a:ext cx="73152" cy="3977639"/>
          </a:xfrm>
          <a:prstGeom prst="rect">
            <a:avLst/>
          </a:prstGeom>
          <a:solidFill>
            <a:srgbClr val="224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4352544" y="1435607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224B7E"/>
                </a:solidFill>
                <a:latin typeface="Aptos"/>
              </a:rPr>
              <a:t>Operational benefits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297680" y="1810512"/>
            <a:ext cx="3227832" cy="3410711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Single view of weather information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Faster detection of anomalies and extreme events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Location-wise risk and alert visualization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Historical trends for planning and preparedness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Transparent data-quality / verification workflow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781544" y="1325880"/>
            <a:ext cx="34290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ectangle 17418"/>
          <p:cNvSpPr/>
          <p:nvPr/>
        </p:nvSpPr>
        <p:spPr>
          <a:xfrm>
            <a:off x="7781544" y="1325880"/>
            <a:ext cx="73152" cy="3977639"/>
          </a:xfrm>
          <a:prstGeom prst="rect">
            <a:avLst/>
          </a:prstGeom>
          <a:solidFill>
            <a:srgbClr val="1F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7946136" y="1435607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224B7E"/>
                </a:solidFill>
                <a:latin typeface="Aptos"/>
              </a:rPr>
              <a:t>Social • Economic • Environmental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891271" y="1810512"/>
            <a:ext cx="3227832" cy="3410711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Supports earlier preparedness and response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Can reduce information fragmentation during events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Enables data-driven resource planning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Improves visibility of rainfall and extreme-weather trends</a:t>
            </a:r>
          </a:p>
          <a:p>
            <a:pPr>
              <a:lnSpc>
                <a:spcPct val="103000"/>
              </a:lnSpc>
              <a:spcAft>
                <a:spcPts val="200"/>
              </a:spcAft>
              <a:defRPr sz="1150">
                <a:solidFill>
                  <a:srgbClr val="19232D"/>
                </a:solidFill>
                <a:latin typeface="Aptos"/>
              </a:defRPr>
            </a:pPr>
            <a:r>
              <a:t>• Scalable foundation for national weather intelligence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85800" y="5559552"/>
            <a:ext cx="1051560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224B7E"/>
                </a:solidFill>
                <a:latin typeface="Aptos"/>
              </a:rPr>
              <a:t>IMPACT CHAIN  •  DATA → INSIGHT → ALERT → DECISION → DISASTER READINESS</a:t>
            </a:r>
          </a:p>
        </p:txBody>
      </p:sp>
    </p:spTree>
    <p:extLst>
      <p:ext uri="{BB962C8B-B14F-4D97-AF65-F5344CB8AC3E}">
        <p14:creationId xmlns:p14="http://schemas.microsoft.com/office/powerpoint/2010/main" xmlns="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800" b="1">
                <a:solidFill>
                  <a:srgbClr val="224B7E"/>
                </a:solidFill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4B7E"/>
                </a:solidFill>
              </a:rPr>
              <a:t>hackstreetgirls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640080" y="1234440"/>
            <a:ext cx="52120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1">
                <a:solidFill>
                  <a:srgbClr val="224B7E"/>
                </a:solidFill>
                <a:latin typeface="Aptos"/>
              </a:rPr>
              <a:t>Research &amp; problem-statement alignment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640080" y="1581912"/>
            <a:ext cx="685800" cy="41148"/>
          </a:xfrm>
          <a:prstGeom prst="rect">
            <a:avLst/>
          </a:prstGeom>
          <a:solidFill>
            <a:srgbClr val="EF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621792" y="1664208"/>
            <a:ext cx="5166360" cy="246888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lnSpc>
                <a:spcPct val="103000"/>
              </a:lnSpc>
              <a:spcAft>
                <a:spcPts val="300"/>
              </a:spcAft>
              <a:defRPr sz="1200">
                <a:solidFill>
                  <a:srgbClr val="19232D"/>
                </a:solidFill>
                <a:latin typeface="Aptos"/>
              </a:defRPr>
            </a:pPr>
            <a:r>
              <a:rPr dirty="0"/>
              <a:t>• SIH26069: National Weather Big Data Analytics Platform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200">
                <a:solidFill>
                  <a:srgbClr val="19232D"/>
                </a:solidFill>
                <a:latin typeface="Aptos"/>
              </a:defRPr>
            </a:pPr>
            <a:r>
              <a:rPr dirty="0"/>
              <a:t>• Organization: Ministry of Earth Sciences (</a:t>
            </a:r>
            <a:r>
              <a:rPr dirty="0" err="1"/>
              <a:t>MoES</a:t>
            </a:r>
            <a:r>
              <a:rPr dirty="0"/>
              <a:t>)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200">
                <a:solidFill>
                  <a:srgbClr val="19232D"/>
                </a:solidFill>
                <a:latin typeface="Aptos"/>
              </a:defRPr>
            </a:pPr>
            <a:r>
              <a:rPr dirty="0"/>
              <a:t>• Department: India Meteorological Department (IMD)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200">
                <a:solidFill>
                  <a:srgbClr val="19232D"/>
                </a:solidFill>
                <a:latin typeface="Aptos"/>
              </a:defRPr>
            </a:pPr>
            <a:r>
              <a:rPr dirty="0"/>
              <a:t>• Prototype maps to ingestion, analytics, alerts, map and dashboard requirements.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200">
                <a:solidFill>
                  <a:srgbClr val="19232D"/>
                </a:solidFill>
                <a:latin typeface="Aptos"/>
              </a:defRPr>
            </a:pPr>
            <a:r>
              <a:rPr dirty="0"/>
              <a:t>• Demo data is clearly labeled; live API integration is the production next step.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035040" y="1234440"/>
            <a:ext cx="5303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1">
                <a:solidFill>
                  <a:srgbClr val="224B7E"/>
                </a:solidFill>
                <a:latin typeface="Aptos"/>
              </a:rPr>
              <a:t>References / links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035040" y="1581912"/>
            <a:ext cx="685800" cy="41148"/>
          </a:xfrm>
          <a:prstGeom prst="rect">
            <a:avLst/>
          </a:prstGeom>
          <a:solidFill>
            <a:srgbClr val="EF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5989320" y="1828800"/>
            <a:ext cx="5303520" cy="215954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lnSpc>
                <a:spcPct val="103000"/>
              </a:lnSpc>
              <a:spcAft>
                <a:spcPts val="300"/>
              </a:spcAft>
              <a:defRPr sz="1050">
                <a:solidFill>
                  <a:srgbClr val="19232D"/>
                </a:solidFill>
                <a:latin typeface="Aptos"/>
              </a:defRPr>
            </a:pPr>
            <a:r>
              <a:rPr dirty="0"/>
              <a:t>• SIH PS: github.com/vedantchalke36/sih-2026-problem-statements/blob/main/ps_2026/SIH26069.md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050">
                <a:solidFill>
                  <a:srgbClr val="19232D"/>
                </a:solidFill>
                <a:latin typeface="Aptos"/>
              </a:defRPr>
            </a:pPr>
            <a:r>
              <a:rPr dirty="0"/>
              <a:t>• SIH PS Viewer: sih2026.vuce.in/</a:t>
            </a:r>
            <a:r>
              <a:rPr dirty="0" err="1"/>
              <a:t>ps</a:t>
            </a:r>
            <a:r>
              <a:rPr dirty="0"/>
              <a:t>/SIH26069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050">
                <a:solidFill>
                  <a:srgbClr val="19232D"/>
                </a:solidFill>
                <a:latin typeface="Aptos"/>
              </a:defRPr>
            </a:pPr>
            <a:r>
              <a:rPr dirty="0"/>
              <a:t>• SIH PS Mirror: sih2026-ps-viewer.vercel.app/</a:t>
            </a:r>
            <a:r>
              <a:rPr dirty="0" err="1"/>
              <a:t>ps</a:t>
            </a:r>
            <a:r>
              <a:rPr dirty="0"/>
              <a:t>/SIH26069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050">
                <a:solidFill>
                  <a:srgbClr val="19232D"/>
                </a:solidFill>
                <a:latin typeface="Aptos"/>
              </a:defRPr>
            </a:pPr>
            <a:r>
              <a:rPr dirty="0"/>
              <a:t>• India Meteorological Department: mausam.imd.gov.in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050">
                <a:solidFill>
                  <a:srgbClr val="19232D"/>
                </a:solidFill>
                <a:latin typeface="Aptos"/>
              </a:defRPr>
            </a:pPr>
            <a:r>
              <a:rPr dirty="0"/>
              <a:t>• Ministry of Earth Sciences: moes.gov.in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0080" y="4526280"/>
            <a:ext cx="5303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224B7E"/>
                </a:solidFill>
                <a:latin typeface="Aptos"/>
              </a:rPr>
              <a:t>TEAM DETAILS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21792" y="489204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lnSpc>
                <a:spcPct val="103000"/>
              </a:lnSpc>
              <a:spcAft>
                <a:spcPts val="300"/>
              </a:spcAft>
              <a:defRPr sz="1120">
                <a:solidFill>
                  <a:srgbClr val="19232D"/>
                </a:solidFill>
                <a:latin typeface="Aptos"/>
              </a:defRPr>
            </a:pPr>
            <a:r>
              <a:t>• Team: hackstreetgirls  |  Team ID: 186386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120">
                <a:solidFill>
                  <a:srgbClr val="19232D"/>
                </a:solidFill>
                <a:latin typeface="Aptos"/>
              </a:defRPr>
            </a:pPr>
            <a:r>
              <a:t>• Institute: Bhagat Phool Singh Mahila Vishwavidyalay</a:t>
            </a:r>
          </a:p>
          <a:p>
            <a:pPr>
              <a:lnSpc>
                <a:spcPct val="103000"/>
              </a:lnSpc>
              <a:spcAft>
                <a:spcPts val="300"/>
              </a:spcAft>
              <a:defRPr sz="1120">
                <a:solidFill>
                  <a:srgbClr val="19232D"/>
                </a:solidFill>
                <a:latin typeface="Aptos"/>
              </a:defRPr>
            </a:pPr>
            <a:r>
              <a:t>• Problem Statement: SIH26069</a:t>
            </a:r>
          </a:p>
        </p:txBody>
      </p:sp>
      <p:pic>
        <p:nvPicPr>
          <p:cNvPr id="17418" name="Picture 17417" descr="Screenshot 2026-09-30 1408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133088"/>
            <a:ext cx="5440680" cy="24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7575</TotalTime>
  <Words>749</Words>
  <Application>Microsoft Office PowerPoint</Application>
  <PresentationFormat>Custom</PresentationFormat>
  <Paragraphs>138</Paragraphs>
  <Slides>6</Slides>
  <Notes>5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IDEA TITLE — MAUSAM360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Windows User</cp:lastModifiedBy>
  <cp:revision>150</cp:revision>
  <dcterms:created xsi:type="dcterms:W3CDTF">2013-12-12T18:46:50Z</dcterms:created>
  <dcterms:modified xsi:type="dcterms:W3CDTF">2026-09-30T10:26:09Z</dcterms:modified>
  <cp:category/>
</cp:coreProperties>
</file>